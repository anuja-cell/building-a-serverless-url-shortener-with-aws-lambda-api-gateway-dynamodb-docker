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6" r:id="rId9"/>
    <p:sldId id="268" r:id="rId10"/>
    <p:sldId id="267" r:id="rId11"/>
    <p:sldId id="269" r:id="rId12"/>
    <p:sldId id="270" r:id="rId13"/>
    <p:sldId id="271" r:id="rId14"/>
    <p:sldId id="263" r:id="rId15"/>
    <p:sldId id="264" r:id="rId16"/>
    <p:sldId id="265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8D9ECC4-9A38-4924-852C-074B5B06BE8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6BFC00F-43BE-4EF9-9959-AF5EF8CB7E9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8D9ECC4-9A38-4924-852C-074B5B06BE8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6BFC00F-43BE-4EF9-9959-AF5EF8CB7E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8D9ECC4-9A38-4924-852C-074B5B06BE8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6BFC00F-43BE-4EF9-9959-AF5EF8CB7E9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8D9ECC4-9A38-4924-852C-074B5B06BE8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6BFC00F-43BE-4EF9-9959-AF5EF8CB7E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8D9ECC4-9A38-4924-852C-074B5B06BE8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6BFC00F-43BE-4EF9-9959-AF5EF8CB7E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8D9ECC4-9A38-4924-852C-074B5B06BE8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6BFC00F-43BE-4EF9-9959-AF5EF8CB7E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8D9ECC4-9A38-4924-852C-074B5B06BE8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6BFC00F-43BE-4EF9-9959-AF5EF8CB7E9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8D9ECC4-9A38-4924-852C-074B5B06BE8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6BFC00F-43BE-4EF9-9959-AF5EF8CB7E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8D9ECC4-9A38-4924-852C-074B5B06BE8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6BFC00F-43BE-4EF9-9959-AF5EF8CB7E9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8D9ECC4-9A38-4924-852C-074B5B06BE8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6BFC00F-43BE-4EF9-9959-AF5EF8CB7E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8D9ECC4-9A38-4924-852C-074B5B06BE8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6BFC00F-43BE-4EF9-9959-AF5EF8CB7E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38D9ECC4-9A38-4924-852C-074B5B06BE8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E6BFC00F-43BE-4EF9-9959-AF5EF8CB7E99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400" y="304800"/>
            <a:ext cx="6629400" cy="121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81200"/>
            <a:ext cx="6553200" cy="4572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0"/>
            <a:ext cx="8153400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8922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Cambria" pitchFamily="18" charset="0"/>
                <a:ea typeface="Cambria" pitchFamily="18" charset="0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>
                <a:latin typeface="Cambria" pitchFamily="18" charset="0"/>
                <a:ea typeface="Cambria" pitchFamily="18" charset="0"/>
              </a:rPr>
              <a:t>What </a:t>
            </a:r>
            <a:r>
              <a:rPr lang="en-US" sz="3000" dirty="0">
                <a:latin typeface="Cambria" pitchFamily="18" charset="0"/>
                <a:ea typeface="Cambria" pitchFamily="18" charset="0"/>
              </a:rPr>
              <a:t>is a URL </a:t>
            </a:r>
            <a:r>
              <a:rPr lang="en-US" sz="3000" dirty="0" err="1">
                <a:latin typeface="Cambria" pitchFamily="18" charset="0"/>
                <a:ea typeface="Cambria" pitchFamily="18" charset="0"/>
              </a:rPr>
              <a:t>Shortener</a:t>
            </a:r>
            <a:r>
              <a:rPr lang="en-US" sz="3000" dirty="0">
                <a:latin typeface="Cambria" pitchFamily="18" charset="0"/>
                <a:ea typeface="Cambria" pitchFamily="18" charset="0"/>
              </a:rPr>
              <a:t>?</a:t>
            </a:r>
          </a:p>
          <a:p>
            <a:r>
              <a:rPr lang="en-US" sz="3000" dirty="0" smtClean="0">
                <a:latin typeface="Cambria" pitchFamily="18" charset="0"/>
                <a:ea typeface="Cambria" pitchFamily="18" charset="0"/>
              </a:rPr>
              <a:t>Why </a:t>
            </a:r>
            <a:r>
              <a:rPr lang="en-US" sz="3000" dirty="0" err="1">
                <a:latin typeface="Cambria" pitchFamily="18" charset="0"/>
                <a:ea typeface="Cambria" pitchFamily="18" charset="0"/>
              </a:rPr>
              <a:t>Serverless</a:t>
            </a:r>
            <a:r>
              <a:rPr lang="en-US" sz="3000" dirty="0">
                <a:latin typeface="Cambria" pitchFamily="18" charset="0"/>
                <a:ea typeface="Cambria" pitchFamily="18" charset="0"/>
              </a:rPr>
              <a:t>?</a:t>
            </a:r>
          </a:p>
          <a:p>
            <a:r>
              <a:rPr lang="en-US" sz="3000" dirty="0" smtClean="0">
                <a:latin typeface="Cambria" pitchFamily="18" charset="0"/>
                <a:ea typeface="Cambria" pitchFamily="18" charset="0"/>
              </a:rPr>
              <a:t>Architecture </a:t>
            </a:r>
            <a:r>
              <a:rPr lang="en-US" sz="3000" dirty="0">
                <a:latin typeface="Cambria" pitchFamily="18" charset="0"/>
                <a:ea typeface="Cambria" pitchFamily="18" charset="0"/>
              </a:rPr>
              <a:t>Overview</a:t>
            </a:r>
          </a:p>
          <a:p>
            <a:r>
              <a:rPr lang="en-US" sz="3000" dirty="0" smtClean="0">
                <a:latin typeface="Cambria" pitchFamily="18" charset="0"/>
                <a:ea typeface="Cambria" pitchFamily="18" charset="0"/>
              </a:rPr>
              <a:t>Implementation </a:t>
            </a:r>
            <a:r>
              <a:rPr lang="en-US" sz="3000" dirty="0">
                <a:latin typeface="Cambria" pitchFamily="18" charset="0"/>
                <a:ea typeface="Cambria" pitchFamily="18" charset="0"/>
              </a:rPr>
              <a:t>Steps</a:t>
            </a:r>
          </a:p>
          <a:p>
            <a:r>
              <a:rPr lang="en-US" sz="3000" dirty="0" smtClean="0">
                <a:latin typeface="Cambria" pitchFamily="18" charset="0"/>
                <a:ea typeface="Cambria" pitchFamily="18" charset="0"/>
              </a:rPr>
              <a:t>Demo </a:t>
            </a:r>
            <a:r>
              <a:rPr lang="en-US" sz="3000" dirty="0">
                <a:latin typeface="Cambria" pitchFamily="18" charset="0"/>
                <a:ea typeface="Cambria" pitchFamily="18" charset="0"/>
              </a:rPr>
              <a:t>Flow</a:t>
            </a:r>
          </a:p>
          <a:p>
            <a:r>
              <a:rPr lang="en-US" sz="3000" dirty="0" smtClean="0">
                <a:latin typeface="Cambria" pitchFamily="18" charset="0"/>
                <a:ea typeface="Cambria" pitchFamily="18" charset="0"/>
              </a:rPr>
              <a:t>Advantages </a:t>
            </a:r>
            <a:r>
              <a:rPr lang="en-US" sz="3000" dirty="0">
                <a:latin typeface="Cambria" pitchFamily="18" charset="0"/>
                <a:ea typeface="Cambria" pitchFamily="18" charset="0"/>
              </a:rPr>
              <a:t>&amp; Challenges</a:t>
            </a:r>
          </a:p>
          <a:p>
            <a:r>
              <a:rPr lang="en-US" sz="3000" dirty="0" smtClean="0">
                <a:latin typeface="Cambria" pitchFamily="18" charset="0"/>
                <a:ea typeface="Cambria" pitchFamily="18" charset="0"/>
              </a:rPr>
              <a:t>Conclusion</a:t>
            </a:r>
            <a:endParaRPr lang="en-US" sz="3000" dirty="0">
              <a:latin typeface="Cambria" pitchFamily="18" charset="0"/>
              <a:ea typeface="Cambria" pitchFamily="18" charset="0"/>
            </a:endParaRPr>
          </a:p>
          <a:p>
            <a:endParaRPr lang="en-US" sz="3000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36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ambria" pitchFamily="18" charset="0"/>
                <a:ea typeface="Cambria" pitchFamily="18" charset="0"/>
              </a:rPr>
              <a:t>What is a URL </a:t>
            </a:r>
            <a:r>
              <a:rPr lang="en-US" sz="4000" dirty="0" err="1">
                <a:latin typeface="Cambria" pitchFamily="18" charset="0"/>
                <a:ea typeface="Cambria" pitchFamily="18" charset="0"/>
              </a:rPr>
              <a:t>Shortener</a:t>
            </a:r>
            <a:r>
              <a:rPr lang="en-US" sz="4000" dirty="0">
                <a:latin typeface="Cambria" pitchFamily="18" charset="0"/>
                <a:ea typeface="Cambria" pitchFamily="18" charset="0"/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>
                <a:latin typeface="Cambria" pitchFamily="18" charset="0"/>
                <a:ea typeface="Cambria" pitchFamily="18" charset="0"/>
              </a:rPr>
              <a:t>Converts </a:t>
            </a:r>
            <a:r>
              <a:rPr lang="en-US" sz="3000" dirty="0">
                <a:latin typeface="Cambria" pitchFamily="18" charset="0"/>
                <a:ea typeface="Cambria" pitchFamily="18" charset="0"/>
              </a:rPr>
              <a:t>long URLs into shorter, manageable links</a:t>
            </a:r>
          </a:p>
          <a:p>
            <a:r>
              <a:rPr lang="en-US" sz="3000" dirty="0" smtClean="0">
                <a:latin typeface="Cambria" pitchFamily="18" charset="0"/>
                <a:ea typeface="Cambria" pitchFamily="18" charset="0"/>
              </a:rPr>
              <a:t>Example</a:t>
            </a:r>
            <a:r>
              <a:rPr lang="en-US" sz="3000" dirty="0">
                <a:latin typeface="Cambria" pitchFamily="18" charset="0"/>
                <a:ea typeface="Cambria" pitchFamily="18" charset="0"/>
              </a:rPr>
              <a:t>: bit.ly, </a:t>
            </a:r>
            <a:r>
              <a:rPr lang="en-US" sz="3000" dirty="0" err="1">
                <a:latin typeface="Cambria" pitchFamily="18" charset="0"/>
                <a:ea typeface="Cambria" pitchFamily="18" charset="0"/>
              </a:rPr>
              <a:t>tinyurl</a:t>
            </a:r>
            <a:endParaRPr lang="en-US" sz="3000" dirty="0">
              <a:latin typeface="Cambria" pitchFamily="18" charset="0"/>
              <a:ea typeface="Cambria" pitchFamily="18" charset="0"/>
            </a:endParaRPr>
          </a:p>
          <a:p>
            <a:r>
              <a:rPr lang="en-US" sz="3000" dirty="0" smtClean="0">
                <a:latin typeface="Cambria" pitchFamily="18" charset="0"/>
                <a:ea typeface="Cambria" pitchFamily="18" charset="0"/>
              </a:rPr>
              <a:t>Improves </a:t>
            </a:r>
            <a:r>
              <a:rPr lang="en-US" sz="3000" dirty="0" err="1">
                <a:latin typeface="Cambria" pitchFamily="18" charset="0"/>
                <a:ea typeface="Cambria" pitchFamily="18" charset="0"/>
              </a:rPr>
              <a:t>shareability</a:t>
            </a:r>
            <a:r>
              <a:rPr lang="en-US" sz="3000" dirty="0">
                <a:latin typeface="Cambria" pitchFamily="18" charset="0"/>
                <a:ea typeface="Cambria" pitchFamily="18" charset="0"/>
              </a:rPr>
              <a:t> and tracking</a:t>
            </a:r>
          </a:p>
          <a:p>
            <a:endParaRPr lang="en-US" sz="3000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568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ambria" pitchFamily="18" charset="0"/>
                <a:ea typeface="Cambria" pitchFamily="18" charset="0"/>
              </a:rPr>
              <a:t>Why </a:t>
            </a:r>
            <a:r>
              <a:rPr lang="en-US" sz="4000" dirty="0" err="1">
                <a:latin typeface="Cambria" pitchFamily="18" charset="0"/>
                <a:ea typeface="Cambria" pitchFamily="18" charset="0"/>
              </a:rPr>
              <a:t>Serverless</a:t>
            </a:r>
            <a:r>
              <a:rPr lang="en-US" sz="4000" dirty="0">
                <a:latin typeface="Cambria" pitchFamily="18" charset="0"/>
                <a:ea typeface="Cambria" pitchFamily="18" charset="0"/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>
                <a:latin typeface="Cambria" pitchFamily="18" charset="0"/>
                <a:ea typeface="Cambria" pitchFamily="18" charset="0"/>
              </a:rPr>
              <a:t>No server management</a:t>
            </a:r>
          </a:p>
          <a:p>
            <a:r>
              <a:rPr lang="en-US" sz="3000" dirty="0" smtClean="0">
                <a:latin typeface="Cambria" pitchFamily="18" charset="0"/>
                <a:ea typeface="Cambria" pitchFamily="18" charset="0"/>
              </a:rPr>
              <a:t>Scales </a:t>
            </a:r>
            <a:r>
              <a:rPr lang="en-US" sz="3000" dirty="0">
                <a:latin typeface="Cambria" pitchFamily="18" charset="0"/>
                <a:ea typeface="Cambria" pitchFamily="18" charset="0"/>
              </a:rPr>
              <a:t>automatically</a:t>
            </a:r>
          </a:p>
          <a:p>
            <a:r>
              <a:rPr lang="en-US" sz="3000" dirty="0" smtClean="0">
                <a:latin typeface="Cambria" pitchFamily="18" charset="0"/>
                <a:ea typeface="Cambria" pitchFamily="18" charset="0"/>
              </a:rPr>
              <a:t>Pay-per-use </a:t>
            </a:r>
            <a:r>
              <a:rPr lang="en-US" sz="3000" dirty="0">
                <a:latin typeface="Cambria" pitchFamily="18" charset="0"/>
                <a:ea typeface="Cambria" pitchFamily="18" charset="0"/>
              </a:rPr>
              <a:t>model</a:t>
            </a:r>
          </a:p>
          <a:p>
            <a:r>
              <a:rPr lang="en-US" sz="3000" dirty="0" smtClean="0">
                <a:latin typeface="Cambria" pitchFamily="18" charset="0"/>
                <a:ea typeface="Cambria" pitchFamily="18" charset="0"/>
              </a:rPr>
              <a:t>Faster </a:t>
            </a:r>
            <a:r>
              <a:rPr lang="en-US" sz="3000" dirty="0">
                <a:latin typeface="Cambria" pitchFamily="18" charset="0"/>
                <a:ea typeface="Cambria" pitchFamily="18" charset="0"/>
              </a:rPr>
              <a:t>development cycle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864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609600"/>
            <a:ext cx="7498080" cy="80803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" pitchFamily="18" charset="0"/>
                <a:ea typeface="Cambria" pitchFamily="18" charset="0"/>
              </a:rP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2057400"/>
            <a:ext cx="7498080" cy="4191000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Cambria" pitchFamily="18" charset="0"/>
                <a:ea typeface="Cambria" pitchFamily="18" charset="0"/>
              </a:rPr>
              <a:t>API Gateway: Exposes REST API endpoints</a:t>
            </a:r>
          </a:p>
          <a:p>
            <a:r>
              <a:rPr lang="en-US" sz="3000" dirty="0" smtClean="0">
                <a:latin typeface="Cambria" pitchFamily="18" charset="0"/>
                <a:ea typeface="Cambria" pitchFamily="18" charset="0"/>
              </a:rPr>
              <a:t>AWS </a:t>
            </a:r>
            <a:r>
              <a:rPr lang="en-US" sz="3000" dirty="0">
                <a:latin typeface="Cambria" pitchFamily="18" charset="0"/>
                <a:ea typeface="Cambria" pitchFamily="18" charset="0"/>
              </a:rPr>
              <a:t>Lambda: Executes business logic</a:t>
            </a:r>
          </a:p>
          <a:p>
            <a:r>
              <a:rPr lang="en-US" sz="3000" dirty="0" err="1" smtClean="0">
                <a:latin typeface="Cambria" pitchFamily="18" charset="0"/>
                <a:ea typeface="Cambria" pitchFamily="18" charset="0"/>
              </a:rPr>
              <a:t>DynamoDB</a:t>
            </a:r>
            <a:r>
              <a:rPr lang="en-US" sz="3000" dirty="0">
                <a:latin typeface="Cambria" pitchFamily="18" charset="0"/>
                <a:ea typeface="Cambria" pitchFamily="18" charset="0"/>
              </a:rPr>
              <a:t>: Stores URL mappings</a:t>
            </a:r>
          </a:p>
          <a:p>
            <a:r>
              <a:rPr lang="en-US" sz="3000" dirty="0" err="1" smtClean="0">
                <a:latin typeface="Cambria" pitchFamily="18" charset="0"/>
                <a:ea typeface="Cambria" pitchFamily="18" charset="0"/>
              </a:rPr>
              <a:t>Docker</a:t>
            </a:r>
            <a:r>
              <a:rPr lang="en-US" sz="3000" dirty="0">
                <a:latin typeface="Cambria" pitchFamily="18" charset="0"/>
                <a:ea typeface="Cambria" pitchFamily="18" charset="0"/>
              </a:rPr>
              <a:t>: Local testing &amp; portability</a:t>
            </a:r>
          </a:p>
          <a:p>
            <a:endParaRPr lang="en-US" sz="3000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393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ambria" pitchFamily="18" charset="0"/>
                <a:ea typeface="Cambria" pitchFamily="18" charset="0"/>
              </a:rPr>
              <a:t>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mbria" pitchFamily="18" charset="0"/>
                <a:ea typeface="Cambria" pitchFamily="18" charset="0"/>
              </a:rPr>
              <a:t>Create </a:t>
            </a:r>
            <a:r>
              <a:rPr lang="en-US" sz="2400" dirty="0" err="1">
                <a:latin typeface="Cambria" pitchFamily="18" charset="0"/>
                <a:ea typeface="Cambria" pitchFamily="18" charset="0"/>
              </a:rPr>
              <a:t>DynamoDB</a:t>
            </a:r>
            <a:r>
              <a:rPr lang="en-US" sz="2400" dirty="0">
                <a:latin typeface="Cambria" pitchFamily="18" charset="0"/>
                <a:ea typeface="Cambria" pitchFamily="18" charset="0"/>
              </a:rPr>
              <a:t> table (</a:t>
            </a:r>
            <a:r>
              <a:rPr lang="en-US" sz="2400" dirty="0" err="1">
                <a:latin typeface="Cambria" pitchFamily="18" charset="0"/>
                <a:ea typeface="Cambria" pitchFamily="18" charset="0"/>
              </a:rPr>
              <a:t>UrlShortener</a:t>
            </a:r>
            <a:r>
              <a:rPr lang="en-US" sz="2400" dirty="0" smtClean="0">
                <a:latin typeface="Cambria" pitchFamily="18" charset="0"/>
                <a:ea typeface="Cambria" pitchFamily="18" charset="0"/>
              </a:rPr>
              <a:t>)</a:t>
            </a:r>
          </a:p>
          <a:p>
            <a:endParaRPr lang="en-US" sz="30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3000" dirty="0" err="1" smtClean="0">
                <a:latin typeface="Cambria" pitchFamily="18" charset="0"/>
                <a:ea typeface="Cambria" pitchFamily="18" charset="0"/>
              </a:rPr>
              <a:t>hh</a:t>
            </a:r>
            <a:endParaRPr lang="en-US" sz="3000" dirty="0">
              <a:latin typeface="Cambria" pitchFamily="18" charset="0"/>
              <a:ea typeface="Cambria" pitchFamily="18" charset="0"/>
            </a:endParaRPr>
          </a:p>
          <a:p>
            <a:endParaRPr lang="en-US" sz="3000" dirty="0">
              <a:latin typeface="Cambria" pitchFamily="18" charset="0"/>
              <a:ea typeface="Cambria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600200" y="2470150"/>
            <a:ext cx="6858000" cy="301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369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06362"/>
          </a:xfrm>
        </p:spPr>
        <p:txBody>
          <a:bodyPr>
            <a:normAutofit fontScale="90000"/>
          </a:bodyPr>
          <a:lstStyle/>
          <a:p>
            <a:r>
              <a:rPr lang="en-US" sz="800" dirty="0" smtClean="0"/>
              <a:t>.</a:t>
            </a:r>
            <a:endParaRPr lang="en-US" sz="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81000"/>
            <a:ext cx="7498080" cy="58674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200" dirty="0">
                <a:latin typeface="Cambria" pitchFamily="18" charset="0"/>
                <a:ea typeface="Cambria" pitchFamily="18" charset="0"/>
              </a:rPr>
              <a:t>Write Lambda function (shorten &amp; redirect</a:t>
            </a:r>
            <a:r>
              <a:rPr lang="en-US" sz="2200" dirty="0" smtClean="0">
                <a:latin typeface="Cambria" pitchFamily="18" charset="0"/>
                <a:ea typeface="Cambria" pitchFamily="18" charset="0"/>
              </a:rPr>
              <a:t>)</a:t>
            </a:r>
          </a:p>
          <a:p>
            <a:endParaRPr lang="en-US" sz="2200" dirty="0" smtClean="0">
              <a:latin typeface="Cambria" pitchFamily="18" charset="0"/>
              <a:ea typeface="Cambria" pitchFamily="18" charset="0"/>
            </a:endParaRPr>
          </a:p>
          <a:p>
            <a:endParaRPr lang="en-US" sz="2200" dirty="0" smtClean="0">
              <a:latin typeface="Cambria" pitchFamily="18" charset="0"/>
              <a:ea typeface="Cambria" pitchFamily="18" charset="0"/>
            </a:endParaRPr>
          </a:p>
          <a:p>
            <a:endParaRPr lang="en-US" sz="22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2200" dirty="0" smtClean="0">
                <a:latin typeface="Cambria" pitchFamily="18" charset="0"/>
                <a:ea typeface="Cambria" pitchFamily="18" charset="0"/>
              </a:rPr>
              <a:t> </a:t>
            </a:r>
          </a:p>
          <a:p>
            <a:endParaRPr lang="en-US" sz="2200" dirty="0" smtClean="0">
              <a:latin typeface="Cambria" pitchFamily="18" charset="0"/>
              <a:ea typeface="Cambria" pitchFamily="18" charset="0"/>
            </a:endParaRPr>
          </a:p>
          <a:p>
            <a:endParaRPr lang="en-US" sz="2200" dirty="0">
              <a:latin typeface="Cambria" pitchFamily="18" charset="0"/>
              <a:ea typeface="Cambria" pitchFamily="18" charset="0"/>
            </a:endParaRPr>
          </a:p>
          <a:p>
            <a:endParaRPr lang="en-US" sz="2200" dirty="0" smtClean="0">
              <a:latin typeface="Cambria" pitchFamily="18" charset="0"/>
              <a:ea typeface="Cambria" pitchFamily="18" charset="0"/>
            </a:endParaRPr>
          </a:p>
          <a:p>
            <a:endParaRPr lang="en-US" sz="2200" dirty="0">
              <a:latin typeface="Cambria" pitchFamily="18" charset="0"/>
              <a:ea typeface="Cambria" pitchFamily="18" charset="0"/>
            </a:endParaRPr>
          </a:p>
          <a:p>
            <a:endParaRPr lang="en-US" sz="2200" dirty="0" smtClean="0">
              <a:latin typeface="Cambria" pitchFamily="18" charset="0"/>
              <a:ea typeface="Cambria" pitchFamily="18" charset="0"/>
            </a:endParaRPr>
          </a:p>
          <a:p>
            <a:endParaRPr lang="en-US" sz="2200" dirty="0" smtClean="0">
              <a:latin typeface="Cambria" pitchFamily="18" charset="0"/>
              <a:ea typeface="Cambria" pitchFamily="18" charset="0"/>
            </a:endParaRPr>
          </a:p>
          <a:p>
            <a:pPr marL="82296" indent="0">
              <a:buNone/>
            </a:pPr>
            <a:r>
              <a:rPr lang="en-US" sz="2200" dirty="0" smtClean="0">
                <a:latin typeface="Cambria" pitchFamily="18" charset="0"/>
                <a:ea typeface="Cambria" pitchFamily="18" charset="0"/>
              </a:rPr>
              <a:t>Write </a:t>
            </a:r>
            <a:r>
              <a:rPr lang="en-US" sz="2200" dirty="0" err="1" smtClean="0">
                <a:latin typeface="Cambria" pitchFamily="18" charset="0"/>
                <a:ea typeface="Cambria" pitchFamily="18" charset="0"/>
              </a:rPr>
              <a:t>url</a:t>
            </a:r>
            <a:r>
              <a:rPr lang="en-US" sz="2200" dirty="0" smtClean="0">
                <a:latin typeface="Cambria" pitchFamily="18" charset="0"/>
                <a:ea typeface="Cambria" pitchFamily="18" charset="0"/>
              </a:rPr>
              <a:t> shorten code. This is the code that will be called when the user wants to shorten a URL.</a:t>
            </a:r>
            <a:endParaRPr lang="en-US" sz="2200" dirty="0">
              <a:latin typeface="Cambria" pitchFamily="18" charset="0"/>
              <a:ea typeface="Cambria" pitchFamily="18" charset="0"/>
            </a:endParaRPr>
          </a:p>
          <a:p>
            <a:endParaRPr lang="en-US" sz="2200" dirty="0">
              <a:latin typeface="Cambria" pitchFamily="18" charset="0"/>
              <a:ea typeface="Cambria" pitchFamily="18" charset="0"/>
            </a:endParaRPr>
          </a:p>
          <a:p>
            <a:endParaRPr lang="en-US" sz="2200" dirty="0">
              <a:latin typeface="Cambria" pitchFamily="18" charset="0"/>
              <a:ea typeface="Cambria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0" y="1143000"/>
            <a:ext cx="71628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612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06362"/>
          </a:xfrm>
        </p:spPr>
        <p:txBody>
          <a:bodyPr>
            <a:normAutofit fontScale="90000"/>
          </a:bodyPr>
          <a:lstStyle/>
          <a:p>
            <a:r>
              <a:rPr lang="en-US" sz="800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28600"/>
            <a:ext cx="7866888" cy="6019800"/>
          </a:xfrm>
        </p:spPr>
        <p:txBody>
          <a:bodyPr>
            <a:normAutofit/>
          </a:bodyPr>
          <a:lstStyle/>
          <a:p>
            <a:endParaRPr lang="en-US" sz="2200" dirty="0" smtClean="0">
              <a:latin typeface="Cambria" pitchFamily="18" charset="0"/>
              <a:ea typeface="Cambria" pitchFamily="18" charset="0"/>
            </a:endParaRPr>
          </a:p>
          <a:p>
            <a:endParaRPr lang="en-US" sz="2200" dirty="0">
              <a:latin typeface="Cambria" pitchFamily="18" charset="0"/>
              <a:ea typeface="Cambria" pitchFamily="18" charset="0"/>
            </a:endParaRPr>
          </a:p>
          <a:p>
            <a:endParaRPr lang="en-US" sz="2200" dirty="0" smtClean="0">
              <a:latin typeface="Cambria" pitchFamily="18" charset="0"/>
              <a:ea typeface="Cambria" pitchFamily="18" charset="0"/>
            </a:endParaRPr>
          </a:p>
          <a:p>
            <a:endParaRPr lang="en-US" sz="2200" dirty="0" smtClean="0">
              <a:latin typeface="Cambria" pitchFamily="18" charset="0"/>
              <a:ea typeface="Cambria" pitchFamily="18" charset="0"/>
            </a:endParaRPr>
          </a:p>
          <a:p>
            <a:endParaRPr lang="en-US" sz="2200" dirty="0" smtClean="0">
              <a:latin typeface="Cambria" pitchFamily="18" charset="0"/>
              <a:ea typeface="Cambria" pitchFamily="18" charset="0"/>
            </a:endParaRPr>
          </a:p>
          <a:p>
            <a:endParaRPr lang="en-US" sz="2200" dirty="0" smtClean="0">
              <a:latin typeface="Cambria" pitchFamily="18" charset="0"/>
              <a:ea typeface="Cambria" pitchFamily="18" charset="0"/>
            </a:endParaRPr>
          </a:p>
          <a:p>
            <a:endParaRPr lang="en-US" sz="2200" dirty="0">
              <a:latin typeface="Cambria" pitchFamily="18" charset="0"/>
              <a:ea typeface="Cambria" pitchFamily="18" charset="0"/>
            </a:endParaRPr>
          </a:p>
          <a:p>
            <a:pPr marL="82296" indent="0">
              <a:buNone/>
            </a:pPr>
            <a:r>
              <a:rPr lang="en-US" sz="2200" dirty="0" smtClean="0">
                <a:latin typeface="Cambria" pitchFamily="18" charset="0"/>
                <a:ea typeface="Cambria" pitchFamily="18" charset="0"/>
              </a:rPr>
              <a:t>Redirect </a:t>
            </a:r>
            <a:r>
              <a:rPr lang="en-US" sz="2200" dirty="0">
                <a:latin typeface="Cambria" pitchFamily="18" charset="0"/>
                <a:ea typeface="Cambria" pitchFamily="18" charset="0"/>
              </a:rPr>
              <a:t>function this is the function that will be called </a:t>
            </a:r>
            <a:r>
              <a:rPr lang="en-US" sz="2200" dirty="0" smtClean="0">
                <a:latin typeface="Cambria" pitchFamily="18" charset="0"/>
                <a:ea typeface="Cambria" pitchFamily="18" charset="0"/>
              </a:rPr>
              <a:t>when </a:t>
            </a:r>
            <a:r>
              <a:rPr lang="en-US" sz="2200" dirty="0">
                <a:latin typeface="Cambria" pitchFamily="18" charset="0"/>
                <a:ea typeface="Cambria" pitchFamily="18" charset="0"/>
              </a:rPr>
              <a:t>the short URL is accessed </a:t>
            </a:r>
            <a:endParaRPr lang="en-US" sz="2200" dirty="0" smtClean="0">
              <a:latin typeface="Cambria" pitchFamily="18" charset="0"/>
              <a:ea typeface="Cambria" pitchFamily="18" charset="0"/>
            </a:endParaRPr>
          </a:p>
          <a:p>
            <a:endParaRPr lang="en-US" sz="2200" dirty="0" smtClean="0">
              <a:latin typeface="Cambria" pitchFamily="18" charset="0"/>
              <a:ea typeface="Cambria" pitchFamily="18" charset="0"/>
            </a:endParaRPr>
          </a:p>
          <a:p>
            <a:endParaRPr lang="en-US" sz="2200" dirty="0">
              <a:latin typeface="Cambria" pitchFamily="18" charset="0"/>
              <a:ea typeface="Cambria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0" y="228600"/>
            <a:ext cx="7239000" cy="274320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1371600" y="3886200"/>
            <a:ext cx="73914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179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06362"/>
          </a:xfrm>
        </p:spPr>
        <p:txBody>
          <a:bodyPr>
            <a:normAutofit fontScale="90000"/>
          </a:bodyPr>
          <a:lstStyle/>
          <a:p>
            <a:r>
              <a:rPr lang="en-US" sz="800" dirty="0" smtClean="0"/>
              <a:t>.</a:t>
            </a:r>
            <a:endParaRPr lang="en-US" sz="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76200"/>
            <a:ext cx="7924800" cy="67056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200" dirty="0">
                <a:latin typeface="Cambria" pitchFamily="18" charset="0"/>
                <a:ea typeface="Cambria" pitchFamily="18" charset="0"/>
              </a:rPr>
              <a:t>S</a:t>
            </a:r>
            <a:r>
              <a:rPr lang="en-US" sz="2200" dirty="0" smtClean="0">
                <a:latin typeface="Cambria" pitchFamily="18" charset="0"/>
                <a:ea typeface="Cambria" pitchFamily="18" charset="0"/>
              </a:rPr>
              <a:t>etup </a:t>
            </a:r>
            <a:r>
              <a:rPr lang="en-US" sz="2200" dirty="0">
                <a:latin typeface="Cambria" pitchFamily="18" charset="0"/>
                <a:ea typeface="Cambria" pitchFamily="18" charset="0"/>
              </a:rPr>
              <a:t>API </a:t>
            </a:r>
            <a:r>
              <a:rPr lang="en-US" sz="2200" dirty="0" smtClean="0">
                <a:latin typeface="Cambria" pitchFamily="18" charset="0"/>
                <a:ea typeface="Cambria" pitchFamily="18" charset="0"/>
              </a:rPr>
              <a:t>Gateway.</a:t>
            </a:r>
          </a:p>
          <a:p>
            <a:endParaRPr lang="en-US" sz="3000" dirty="0" smtClean="0">
              <a:latin typeface="Cambria" pitchFamily="18" charset="0"/>
              <a:ea typeface="Cambria" pitchFamily="18" charset="0"/>
            </a:endParaRPr>
          </a:p>
          <a:p>
            <a:endParaRPr lang="en-US" sz="3000" dirty="0">
              <a:latin typeface="Cambria" pitchFamily="18" charset="0"/>
              <a:ea typeface="Cambria" pitchFamily="18" charset="0"/>
            </a:endParaRPr>
          </a:p>
          <a:p>
            <a:endParaRPr lang="en-US" sz="3000" dirty="0" smtClean="0">
              <a:latin typeface="Cambria" pitchFamily="18" charset="0"/>
              <a:ea typeface="Cambria" pitchFamily="18" charset="0"/>
            </a:endParaRPr>
          </a:p>
          <a:p>
            <a:endParaRPr lang="en-US" sz="3000" dirty="0">
              <a:latin typeface="Cambria" pitchFamily="18" charset="0"/>
              <a:ea typeface="Cambria" pitchFamily="18" charset="0"/>
            </a:endParaRPr>
          </a:p>
          <a:p>
            <a:pPr marL="82296" indent="0">
              <a:buNone/>
            </a:pPr>
            <a:r>
              <a:rPr lang="en-US" sz="2200" dirty="0" smtClean="0">
                <a:latin typeface="Cambria" pitchFamily="18" charset="0"/>
                <a:ea typeface="Cambria" pitchFamily="18" charset="0"/>
              </a:rPr>
              <a:t>  </a:t>
            </a:r>
          </a:p>
          <a:p>
            <a:pPr marL="82296" indent="0">
              <a:buNone/>
            </a:pPr>
            <a:r>
              <a:rPr lang="en-US" sz="2200" dirty="0" smtClean="0">
                <a:latin typeface="Cambria" pitchFamily="18" charset="0"/>
                <a:ea typeface="Cambria" pitchFamily="18" charset="0"/>
              </a:rPr>
              <a:t>Create Route </a:t>
            </a:r>
            <a:r>
              <a:rPr lang="en-US" sz="2200" dirty="0">
                <a:latin typeface="Cambria" pitchFamily="18" charset="0"/>
                <a:ea typeface="Cambria" pitchFamily="18" charset="0"/>
              </a:rPr>
              <a:t>for API and integrated Lambda function to it</a:t>
            </a:r>
          </a:p>
          <a:p>
            <a:endParaRPr lang="en-US" sz="3000" dirty="0" smtClean="0">
              <a:latin typeface="Cambria" pitchFamily="18" charset="0"/>
              <a:ea typeface="Cambria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580744" y="609600"/>
            <a:ext cx="7106055" cy="251460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1676399" y="3581400"/>
            <a:ext cx="7010399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322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06362"/>
          </a:xfrm>
        </p:spPr>
        <p:txBody>
          <a:bodyPr>
            <a:normAutofit fontScale="90000"/>
          </a:bodyPr>
          <a:lstStyle/>
          <a:p>
            <a:r>
              <a:rPr lang="en-US" sz="800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"/>
            <a:ext cx="7866888" cy="6400800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Cambria" pitchFamily="18" charset="0"/>
                <a:ea typeface="Cambria" pitchFamily="18" charset="0"/>
              </a:rPr>
              <a:t>Attach API Gateway to </a:t>
            </a:r>
            <a:r>
              <a:rPr lang="en-US" sz="2200" dirty="0" err="1" smtClean="0">
                <a:latin typeface="Cambria" pitchFamily="18" charset="0"/>
                <a:ea typeface="Cambria" pitchFamily="18" charset="0"/>
              </a:rPr>
              <a:t>url_shortner</a:t>
            </a:r>
            <a:r>
              <a:rPr lang="en-US" sz="2200" dirty="0" smtClean="0">
                <a:latin typeface="Cambria" pitchFamily="18" charset="0"/>
                <a:ea typeface="Cambria" pitchFamily="18" charset="0"/>
              </a:rPr>
              <a:t> function.</a:t>
            </a:r>
          </a:p>
          <a:p>
            <a:endParaRPr lang="en-US" sz="2200" dirty="0">
              <a:latin typeface="Cambria" pitchFamily="18" charset="0"/>
              <a:ea typeface="Cambria" pitchFamily="18" charset="0"/>
            </a:endParaRPr>
          </a:p>
          <a:p>
            <a:endParaRPr lang="en-US" sz="2200" dirty="0" smtClean="0">
              <a:latin typeface="Cambria" pitchFamily="18" charset="0"/>
              <a:ea typeface="Cambria" pitchFamily="18" charset="0"/>
            </a:endParaRPr>
          </a:p>
          <a:p>
            <a:endParaRPr lang="en-US" sz="2200" dirty="0">
              <a:latin typeface="Cambria" pitchFamily="18" charset="0"/>
              <a:ea typeface="Cambria" pitchFamily="18" charset="0"/>
            </a:endParaRPr>
          </a:p>
          <a:p>
            <a:endParaRPr lang="en-US" sz="2200" dirty="0" smtClean="0">
              <a:latin typeface="Cambria" pitchFamily="18" charset="0"/>
              <a:ea typeface="Cambria" pitchFamily="18" charset="0"/>
            </a:endParaRPr>
          </a:p>
          <a:p>
            <a:endParaRPr lang="en-US" sz="2200" dirty="0">
              <a:latin typeface="Cambria" pitchFamily="18" charset="0"/>
              <a:ea typeface="Cambria" pitchFamily="18" charset="0"/>
            </a:endParaRPr>
          </a:p>
          <a:p>
            <a:endParaRPr lang="en-US" sz="22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2200" dirty="0" smtClean="0">
                <a:latin typeface="Cambria" pitchFamily="18" charset="0"/>
                <a:ea typeface="Cambria" pitchFamily="18" charset="0"/>
              </a:rPr>
              <a:t>Also attach API Gateway to </a:t>
            </a:r>
            <a:r>
              <a:rPr lang="en-US" sz="2200" dirty="0" err="1" smtClean="0">
                <a:latin typeface="Cambria" pitchFamily="18" charset="0"/>
                <a:ea typeface="Cambria" pitchFamily="18" charset="0"/>
              </a:rPr>
              <a:t>redirect_url</a:t>
            </a:r>
            <a:r>
              <a:rPr lang="en-US" sz="2200" dirty="0" smtClean="0">
                <a:latin typeface="Cambria" pitchFamily="18" charset="0"/>
                <a:ea typeface="Cambria" pitchFamily="18" charset="0"/>
              </a:rPr>
              <a:t> function.</a:t>
            </a:r>
          </a:p>
          <a:p>
            <a:endParaRPr lang="en-US" sz="2200" dirty="0">
              <a:latin typeface="Cambria" pitchFamily="18" charset="0"/>
              <a:ea typeface="Cambria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295400" y="685800"/>
            <a:ext cx="6934200" cy="236220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371600" y="3581400"/>
            <a:ext cx="70866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584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06362"/>
          </a:xfrm>
        </p:spPr>
        <p:txBody>
          <a:bodyPr>
            <a:normAutofit fontScale="90000"/>
          </a:bodyPr>
          <a:lstStyle/>
          <a:p>
            <a:r>
              <a:rPr lang="en-US" sz="800" dirty="0" smtClean="0"/>
              <a:t>.</a:t>
            </a:r>
            <a:endParaRPr lang="en-US" sz="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"/>
            <a:ext cx="8077200" cy="6629400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Cambria" pitchFamily="18" charset="0"/>
                <a:ea typeface="Cambria" pitchFamily="18" charset="0"/>
              </a:rPr>
              <a:t>Made change to the roles created </a:t>
            </a:r>
            <a:r>
              <a:rPr lang="en-US" sz="2200" dirty="0" err="1">
                <a:latin typeface="Cambria" pitchFamily="18" charset="0"/>
                <a:ea typeface="Cambria" pitchFamily="18" charset="0"/>
              </a:rPr>
              <a:t>redirect_url</a:t>
            </a:r>
            <a:r>
              <a:rPr lang="en-US" sz="2200" dirty="0">
                <a:latin typeface="Cambria" pitchFamily="18" charset="0"/>
                <a:ea typeface="Cambria" pitchFamily="18" charset="0"/>
              </a:rPr>
              <a:t> and </a:t>
            </a:r>
            <a:r>
              <a:rPr lang="en-US" sz="2200" dirty="0" err="1" smtClean="0">
                <a:latin typeface="Cambria" pitchFamily="18" charset="0"/>
                <a:ea typeface="Cambria" pitchFamily="18" charset="0"/>
              </a:rPr>
              <a:t>url_shortner</a:t>
            </a:r>
            <a:r>
              <a:rPr lang="en-US" sz="2200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endParaRPr lang="en-US" sz="2200" dirty="0">
              <a:latin typeface="Cambria" pitchFamily="18" charset="0"/>
              <a:ea typeface="Cambria" pitchFamily="18" charset="0"/>
            </a:endParaRPr>
          </a:p>
          <a:p>
            <a:endParaRPr lang="en-US" sz="2200" dirty="0" smtClean="0">
              <a:latin typeface="Cambria" pitchFamily="18" charset="0"/>
              <a:ea typeface="Cambria" pitchFamily="18" charset="0"/>
            </a:endParaRPr>
          </a:p>
          <a:p>
            <a:endParaRPr lang="en-US" sz="2200" dirty="0">
              <a:latin typeface="Cambria" pitchFamily="18" charset="0"/>
              <a:ea typeface="Cambria" pitchFamily="18" charset="0"/>
            </a:endParaRPr>
          </a:p>
          <a:p>
            <a:endParaRPr lang="en-US" sz="2200" dirty="0" smtClean="0">
              <a:latin typeface="Cambria" pitchFamily="18" charset="0"/>
              <a:ea typeface="Cambria" pitchFamily="18" charset="0"/>
            </a:endParaRPr>
          </a:p>
          <a:p>
            <a:endParaRPr lang="en-US" sz="2200" dirty="0">
              <a:latin typeface="Cambria" pitchFamily="18" charset="0"/>
              <a:ea typeface="Cambria" pitchFamily="18" charset="0"/>
            </a:endParaRPr>
          </a:p>
          <a:p>
            <a:endParaRPr lang="en-US" sz="22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2200" dirty="0">
                <a:latin typeface="Cambria" pitchFamily="18" charset="0"/>
                <a:ea typeface="Cambria" pitchFamily="18" charset="0"/>
              </a:rPr>
              <a:t>Added </a:t>
            </a:r>
            <a:r>
              <a:rPr lang="en-US" sz="2200" dirty="0" smtClean="0">
                <a:latin typeface="Cambria" pitchFamily="18" charset="0"/>
                <a:ea typeface="Cambria" pitchFamily="18" charset="0"/>
              </a:rPr>
              <a:t>resource </a:t>
            </a:r>
            <a:r>
              <a:rPr lang="en-US" sz="2200" dirty="0" err="1" smtClean="0">
                <a:latin typeface="Cambria" pitchFamily="18" charset="0"/>
                <a:ea typeface="Cambria" pitchFamily="18" charset="0"/>
              </a:rPr>
              <a:t>arn</a:t>
            </a:r>
            <a:r>
              <a:rPr lang="en-US" sz="2200" dirty="0" smtClean="0">
                <a:latin typeface="Cambria" pitchFamily="18" charset="0"/>
                <a:ea typeface="Cambria" pitchFamily="18" charset="0"/>
              </a:rPr>
              <a:t> for </a:t>
            </a:r>
            <a:r>
              <a:rPr lang="en-US" sz="2200" dirty="0" err="1" smtClean="0">
                <a:latin typeface="Cambria" pitchFamily="18" charset="0"/>
                <a:ea typeface="Cambria" pitchFamily="18" charset="0"/>
              </a:rPr>
              <a:t>dynamodb</a:t>
            </a:r>
            <a:r>
              <a:rPr lang="en-US" sz="2200" dirty="0" smtClean="0">
                <a:latin typeface="Cambria" pitchFamily="18" charset="0"/>
                <a:ea typeface="Cambria" pitchFamily="18" charset="0"/>
              </a:rPr>
              <a:t> table.</a:t>
            </a:r>
            <a:endParaRPr lang="en-US" sz="2200" dirty="0">
              <a:latin typeface="Cambria" pitchFamily="18" charset="0"/>
              <a:ea typeface="Cambria" pitchFamily="18" charset="0"/>
            </a:endParaRPr>
          </a:p>
          <a:p>
            <a:pPr marL="82296" indent="0">
              <a:buNone/>
            </a:pPr>
            <a:r>
              <a:rPr lang="en-US" sz="2200" dirty="0" smtClean="0">
                <a:latin typeface="Cambria" pitchFamily="18" charset="0"/>
                <a:ea typeface="Cambria" pitchFamily="18" charset="0"/>
              </a:rPr>
              <a:t> </a:t>
            </a:r>
            <a:endParaRPr lang="en-US" sz="2200" dirty="0">
              <a:latin typeface="Cambria" pitchFamily="18" charset="0"/>
              <a:ea typeface="Cambria" pitchFamily="18" charset="0"/>
            </a:endParaRPr>
          </a:p>
          <a:p>
            <a:endParaRPr lang="en-US" sz="2200" dirty="0">
              <a:latin typeface="Cambria" pitchFamily="18" charset="0"/>
              <a:ea typeface="Cambria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371600" y="3505200"/>
            <a:ext cx="7239000" cy="315087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219200" y="685800"/>
            <a:ext cx="7620000" cy="226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173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06362"/>
          </a:xfrm>
        </p:spPr>
        <p:txBody>
          <a:bodyPr>
            <a:normAutofit fontScale="90000"/>
          </a:bodyPr>
          <a:lstStyle/>
          <a:p>
            <a:r>
              <a:rPr lang="en-US" sz="800" dirty="0" smtClean="0"/>
              <a:t>.</a:t>
            </a:r>
            <a:endParaRPr lang="en-US" sz="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"/>
            <a:ext cx="8001000" cy="65532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mbria" pitchFamily="18" charset="0"/>
                <a:ea typeface="Cambria" pitchFamily="18" charset="0"/>
              </a:rPr>
              <a:t>Test API Gateway </a:t>
            </a:r>
            <a:r>
              <a:rPr lang="en-US" sz="2400" dirty="0" smtClean="0">
                <a:latin typeface="Cambria" pitchFamily="18" charset="0"/>
                <a:ea typeface="Cambria" pitchFamily="18" charset="0"/>
              </a:rPr>
              <a:t>Endpoint.</a:t>
            </a:r>
          </a:p>
          <a:p>
            <a:endParaRPr lang="en-US" sz="2400" dirty="0">
              <a:latin typeface="Cambria" pitchFamily="18" charset="0"/>
              <a:ea typeface="Cambria" pitchFamily="18" charset="0"/>
            </a:endParaRPr>
          </a:p>
          <a:p>
            <a:endParaRPr lang="en-US" sz="2400" dirty="0" smtClean="0">
              <a:latin typeface="Cambria" pitchFamily="18" charset="0"/>
              <a:ea typeface="Cambria" pitchFamily="18" charset="0"/>
            </a:endParaRPr>
          </a:p>
          <a:p>
            <a:endParaRPr lang="en-US" sz="2400" dirty="0">
              <a:latin typeface="Cambria" pitchFamily="18" charset="0"/>
              <a:ea typeface="Cambria" pitchFamily="18" charset="0"/>
            </a:endParaRPr>
          </a:p>
          <a:p>
            <a:endParaRPr lang="en-US" sz="2400" dirty="0" smtClean="0">
              <a:latin typeface="Cambria" pitchFamily="18" charset="0"/>
              <a:ea typeface="Cambria" pitchFamily="18" charset="0"/>
            </a:endParaRPr>
          </a:p>
          <a:p>
            <a:endParaRPr lang="en-US" sz="2400" dirty="0">
              <a:latin typeface="Cambria" pitchFamily="18" charset="0"/>
              <a:ea typeface="Cambria" pitchFamily="18" charset="0"/>
            </a:endParaRPr>
          </a:p>
          <a:p>
            <a:endParaRPr lang="en-US" sz="2400" dirty="0" smtClean="0">
              <a:latin typeface="Cambria" pitchFamily="18" charset="0"/>
              <a:ea typeface="Cambria" pitchFamily="18" charset="0"/>
            </a:endParaRPr>
          </a:p>
          <a:p>
            <a:endParaRPr lang="en-US" sz="2400" dirty="0">
              <a:latin typeface="Cambria" pitchFamily="18" charset="0"/>
              <a:ea typeface="Cambria" pitchFamily="18" charset="0"/>
            </a:endParaRPr>
          </a:p>
          <a:p>
            <a:endParaRPr lang="en-US" sz="2400" dirty="0" smtClean="0">
              <a:latin typeface="Cambria" pitchFamily="18" charset="0"/>
              <a:ea typeface="Cambria" pitchFamily="18" charset="0"/>
            </a:endParaRPr>
          </a:p>
          <a:p>
            <a:endParaRPr lang="en-US" sz="24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2200" dirty="0" smtClean="0">
                <a:latin typeface="Cambria" pitchFamily="18" charset="0"/>
                <a:ea typeface="Cambria" pitchFamily="18" charset="0"/>
              </a:rPr>
              <a:t>Test </a:t>
            </a:r>
            <a:r>
              <a:rPr lang="en-US" sz="2200" dirty="0" err="1" smtClean="0">
                <a:latin typeface="Cambria" pitchFamily="18" charset="0"/>
                <a:ea typeface="Cambria" pitchFamily="18" charset="0"/>
              </a:rPr>
              <a:t>url</a:t>
            </a:r>
            <a:r>
              <a:rPr lang="en-US" sz="2200" dirty="0" smtClean="0">
                <a:latin typeface="Cambria" pitchFamily="18" charset="0"/>
                <a:ea typeface="Cambria" pitchFamily="18" charset="0"/>
              </a:rPr>
              <a:t> on any browser : </a:t>
            </a:r>
          </a:p>
          <a:p>
            <a:r>
              <a:rPr lang="en-US" sz="2000" dirty="0" smtClean="0">
                <a:latin typeface="Cambria" pitchFamily="18" charset="0"/>
                <a:ea typeface="Cambria" pitchFamily="18" charset="0"/>
              </a:rPr>
              <a:t>https</a:t>
            </a:r>
            <a:r>
              <a:rPr lang="en-US" sz="2000" dirty="0">
                <a:latin typeface="Cambria" pitchFamily="18" charset="0"/>
                <a:ea typeface="Cambria" pitchFamily="18" charset="0"/>
              </a:rPr>
              <a:t>://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ndtqsrh9q0.execute-api.us-east-1.amazonaws.com/e98f73</a:t>
            </a:r>
            <a:endParaRPr lang="en-US" sz="2000" dirty="0">
              <a:latin typeface="Cambria" pitchFamily="18" charset="0"/>
              <a:ea typeface="Cambria" pitchFamily="18" charset="0"/>
            </a:endParaRPr>
          </a:p>
          <a:p>
            <a:endParaRPr lang="en-US" sz="2400" dirty="0" smtClean="0">
              <a:latin typeface="Cambria" pitchFamily="18" charset="0"/>
              <a:ea typeface="Cambria" pitchFamily="18" charset="0"/>
            </a:endParaRPr>
          </a:p>
          <a:p>
            <a:endParaRPr lang="en-US" sz="2400" dirty="0">
              <a:latin typeface="Cambria" pitchFamily="18" charset="0"/>
              <a:ea typeface="Cambria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143000" y="914400"/>
            <a:ext cx="77724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871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1435608" y="228600"/>
            <a:ext cx="7498080" cy="46038"/>
          </a:xfrm>
        </p:spPr>
        <p:txBody>
          <a:bodyPr>
            <a:normAutofit fontScale="90000"/>
          </a:bodyPr>
          <a:lstStyle/>
          <a:p>
            <a:r>
              <a:rPr lang="en-US" sz="800" dirty="0" smtClean="0"/>
              <a:t>.</a:t>
            </a:r>
            <a:endParaRPr lang="en-US" sz="800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1295400"/>
            <a:ext cx="779145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900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Cambria" pitchFamily="18" charset="0"/>
                <a:ea typeface="Cambria" pitchFamily="18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752600"/>
            <a:ext cx="7498080" cy="4495800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Cambria" pitchFamily="18" charset="0"/>
                <a:ea typeface="Cambria" pitchFamily="18" charset="0"/>
              </a:rPr>
              <a:t>No infrastructure overhead</a:t>
            </a:r>
          </a:p>
          <a:p>
            <a:r>
              <a:rPr lang="en-US" sz="3000" dirty="0" smtClean="0">
                <a:latin typeface="Cambria" pitchFamily="18" charset="0"/>
                <a:ea typeface="Cambria" pitchFamily="18" charset="0"/>
              </a:rPr>
              <a:t>Auto-scalable </a:t>
            </a:r>
            <a:r>
              <a:rPr lang="en-US" sz="3000" dirty="0">
                <a:latin typeface="Cambria" pitchFamily="18" charset="0"/>
                <a:ea typeface="Cambria" pitchFamily="18" charset="0"/>
              </a:rPr>
              <a:t>&amp; fault-tolerant</a:t>
            </a:r>
          </a:p>
          <a:p>
            <a:r>
              <a:rPr lang="en-US" sz="3000" dirty="0" smtClean="0">
                <a:latin typeface="Cambria" pitchFamily="18" charset="0"/>
                <a:ea typeface="Cambria" pitchFamily="18" charset="0"/>
              </a:rPr>
              <a:t>Cost-efficient</a:t>
            </a:r>
            <a:endParaRPr lang="en-US" sz="3000" dirty="0">
              <a:latin typeface="Cambria" pitchFamily="18" charset="0"/>
              <a:ea typeface="Cambria" pitchFamily="18" charset="0"/>
            </a:endParaRPr>
          </a:p>
          <a:p>
            <a:r>
              <a:rPr lang="en-US" sz="3000" dirty="0" smtClean="0">
                <a:latin typeface="Cambria" pitchFamily="18" charset="0"/>
                <a:ea typeface="Cambria" pitchFamily="18" charset="0"/>
              </a:rPr>
              <a:t>Easy </a:t>
            </a:r>
            <a:r>
              <a:rPr lang="en-US" sz="3000" dirty="0">
                <a:latin typeface="Cambria" pitchFamily="18" charset="0"/>
                <a:ea typeface="Cambria" pitchFamily="18" charset="0"/>
              </a:rPr>
              <a:t>deployment with </a:t>
            </a:r>
            <a:r>
              <a:rPr lang="en-US" sz="3000" dirty="0" err="1">
                <a:latin typeface="Cambria" pitchFamily="18" charset="0"/>
                <a:ea typeface="Cambria" pitchFamily="18" charset="0"/>
              </a:rPr>
              <a:t>Docker</a:t>
            </a:r>
            <a:endParaRPr lang="en-US" sz="3000" dirty="0">
              <a:latin typeface="Cambria" pitchFamily="18" charset="0"/>
              <a:ea typeface="Cambria" pitchFamily="18" charset="0"/>
            </a:endParaRPr>
          </a:p>
          <a:p>
            <a:endParaRPr lang="en-US" sz="3000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570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Cambria" pitchFamily="18" charset="0"/>
                <a:ea typeface="Cambria" pitchFamily="18" charset="0"/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latin typeface="Cambria" pitchFamily="18" charset="0"/>
                <a:ea typeface="Cambria" pitchFamily="18" charset="0"/>
              </a:rPr>
              <a:t>ResourceNotFoundException</a:t>
            </a:r>
            <a:r>
              <a:rPr lang="en-US" sz="2400" dirty="0">
                <a:latin typeface="Cambria" pitchFamily="18" charset="0"/>
                <a:ea typeface="Cambria" pitchFamily="18" charset="0"/>
              </a:rPr>
              <a:t>: </a:t>
            </a:r>
            <a:r>
              <a:rPr lang="en-US" sz="2400" dirty="0" err="1">
                <a:latin typeface="Cambria" pitchFamily="18" charset="0"/>
                <a:ea typeface="Cambria" pitchFamily="18" charset="0"/>
              </a:rPr>
              <a:t>DynamoDB</a:t>
            </a:r>
            <a:r>
              <a:rPr lang="en-US" sz="2400" dirty="0">
                <a:latin typeface="Cambria" pitchFamily="18" charset="0"/>
                <a:ea typeface="Cambria" pitchFamily="18" charset="0"/>
              </a:rPr>
              <a:t> Table Not </a:t>
            </a:r>
            <a:r>
              <a:rPr lang="en-US" sz="2400" dirty="0" smtClean="0">
                <a:latin typeface="Cambria" pitchFamily="18" charset="0"/>
                <a:ea typeface="Cambria" pitchFamily="18" charset="0"/>
              </a:rPr>
              <a:t>Found.</a:t>
            </a:r>
          </a:p>
          <a:p>
            <a:r>
              <a:rPr lang="en-US" sz="2400" dirty="0">
                <a:latin typeface="Cambria" pitchFamily="18" charset="0"/>
                <a:ea typeface="Cambria" pitchFamily="18" charset="0"/>
              </a:rPr>
              <a:t>The table name in your Lambda function code does not match the actual </a:t>
            </a:r>
            <a:r>
              <a:rPr lang="en-US" sz="2400" dirty="0" err="1">
                <a:latin typeface="Cambria" pitchFamily="18" charset="0"/>
                <a:ea typeface="Cambria" pitchFamily="18" charset="0"/>
              </a:rPr>
              <a:t>DynamoDB</a:t>
            </a:r>
            <a:r>
              <a:rPr lang="en-US" sz="2400" dirty="0">
                <a:latin typeface="Cambria" pitchFamily="18" charset="0"/>
                <a:ea typeface="Cambria" pitchFamily="18" charset="0"/>
              </a:rPr>
              <a:t> table </a:t>
            </a:r>
            <a:r>
              <a:rPr lang="en-US" sz="2400" dirty="0" smtClean="0">
                <a:latin typeface="Cambria" pitchFamily="18" charset="0"/>
                <a:ea typeface="Cambria" pitchFamily="18" charset="0"/>
              </a:rPr>
              <a:t>name</a:t>
            </a:r>
          </a:p>
          <a:p>
            <a:r>
              <a:rPr lang="en-US" sz="2400" dirty="0" err="1">
                <a:latin typeface="Cambria" pitchFamily="18" charset="0"/>
                <a:ea typeface="Cambria" pitchFamily="18" charset="0"/>
              </a:rPr>
              <a:t>AccessDeniedException</a:t>
            </a:r>
            <a:r>
              <a:rPr lang="en-US" sz="2400" dirty="0">
                <a:latin typeface="Cambria" pitchFamily="18" charset="0"/>
                <a:ea typeface="Cambria" pitchFamily="18" charset="0"/>
              </a:rPr>
              <a:t>: Lambda Lacks Permission to Access </a:t>
            </a:r>
            <a:r>
              <a:rPr lang="en-US" sz="2400" dirty="0" err="1">
                <a:latin typeface="Cambria" pitchFamily="18" charset="0"/>
                <a:ea typeface="Cambria" pitchFamily="18" charset="0"/>
              </a:rPr>
              <a:t>DynamoDB</a:t>
            </a:r>
            <a:endParaRPr lang="en-US" sz="2400" dirty="0">
              <a:latin typeface="Cambria" pitchFamily="18" charset="0"/>
              <a:ea typeface="Cambria" pitchFamily="18" charset="0"/>
            </a:endParaRPr>
          </a:p>
          <a:p>
            <a:r>
              <a:rPr lang="en-US" sz="2400" dirty="0">
                <a:latin typeface="Cambria" pitchFamily="18" charset="0"/>
                <a:ea typeface="Cambria" pitchFamily="18" charset="0"/>
              </a:rPr>
              <a:t>The Lambda function lacks the necessary IAM permissions to interact with </a:t>
            </a:r>
            <a:r>
              <a:rPr lang="en-US" sz="2400" dirty="0" err="1">
                <a:latin typeface="Cambria" pitchFamily="18" charset="0"/>
                <a:ea typeface="Cambria" pitchFamily="18" charset="0"/>
              </a:rPr>
              <a:t>DynamoDB</a:t>
            </a:r>
            <a:r>
              <a:rPr lang="en-US" sz="2400" dirty="0">
                <a:latin typeface="Cambria" pitchFamily="18" charset="0"/>
                <a:ea typeface="Cambria" pitchFamily="18" charset="0"/>
              </a:rPr>
              <a:t>.</a:t>
            </a:r>
          </a:p>
          <a:p>
            <a:endParaRPr lang="en-US" sz="2400" dirty="0">
              <a:latin typeface="Cambria" pitchFamily="18" charset="0"/>
              <a:ea typeface="Cambria" pitchFamily="18" charset="0"/>
            </a:endParaRPr>
          </a:p>
          <a:p>
            <a:endParaRPr lang="en-US" sz="2400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530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Cambria" pitchFamily="18" charset="0"/>
                <a:ea typeface="Cambria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828800"/>
            <a:ext cx="7498080" cy="4419600"/>
          </a:xfrm>
        </p:spPr>
        <p:txBody>
          <a:bodyPr>
            <a:normAutofit/>
          </a:bodyPr>
          <a:lstStyle/>
          <a:p>
            <a:r>
              <a:rPr lang="en-US" sz="3000" dirty="0" err="1">
                <a:latin typeface="Cambria" pitchFamily="18" charset="0"/>
                <a:ea typeface="Cambria" pitchFamily="18" charset="0"/>
              </a:rPr>
              <a:t>Serverless</a:t>
            </a:r>
            <a:r>
              <a:rPr lang="en-US" sz="3000" dirty="0">
                <a:latin typeface="Cambria" pitchFamily="18" charset="0"/>
                <a:ea typeface="Cambria" pitchFamily="18" charset="0"/>
              </a:rPr>
              <a:t> simplifies infrastructure</a:t>
            </a:r>
          </a:p>
          <a:p>
            <a:r>
              <a:rPr lang="en-US" sz="3000" dirty="0" smtClean="0">
                <a:latin typeface="Cambria" pitchFamily="18" charset="0"/>
                <a:ea typeface="Cambria" pitchFamily="18" charset="0"/>
              </a:rPr>
              <a:t>URL </a:t>
            </a:r>
            <a:r>
              <a:rPr lang="en-US" sz="3000" dirty="0" err="1">
                <a:latin typeface="Cambria" pitchFamily="18" charset="0"/>
                <a:ea typeface="Cambria" pitchFamily="18" charset="0"/>
              </a:rPr>
              <a:t>shortener</a:t>
            </a:r>
            <a:r>
              <a:rPr lang="en-US" sz="3000" dirty="0">
                <a:latin typeface="Cambria" pitchFamily="18" charset="0"/>
                <a:ea typeface="Cambria" pitchFamily="18" charset="0"/>
              </a:rPr>
              <a:t> = great demo project</a:t>
            </a:r>
          </a:p>
          <a:p>
            <a:r>
              <a:rPr lang="en-US" sz="3000" dirty="0" smtClean="0">
                <a:latin typeface="Cambria" pitchFamily="18" charset="0"/>
                <a:ea typeface="Cambria" pitchFamily="18" charset="0"/>
              </a:rPr>
              <a:t>Future</a:t>
            </a:r>
            <a:r>
              <a:rPr lang="en-US" sz="3000" dirty="0">
                <a:latin typeface="Cambria" pitchFamily="18" charset="0"/>
                <a:ea typeface="Cambria" pitchFamily="18" charset="0"/>
              </a:rPr>
              <a:t>: Add analytics, authentication, and custom domains</a:t>
            </a:r>
          </a:p>
          <a:p>
            <a:endParaRPr lang="en-US" sz="3000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40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06362"/>
          </a:xfrm>
        </p:spPr>
        <p:txBody>
          <a:bodyPr>
            <a:normAutofit fontScale="90000"/>
          </a:bodyPr>
          <a:lstStyle/>
          <a:p>
            <a:r>
              <a:rPr lang="en-US" sz="800" dirty="0"/>
              <a:t>.</a:t>
            </a:r>
            <a:endParaRPr lang="en-US" sz="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52400"/>
            <a:ext cx="7790688" cy="6400800"/>
          </a:xfrm>
        </p:spPr>
        <p:txBody>
          <a:bodyPr>
            <a:normAutofit/>
          </a:bodyPr>
          <a:lstStyle/>
          <a:p>
            <a:pPr marL="82296" indent="0" algn="ctr">
              <a:buNone/>
            </a:pPr>
            <a:endParaRPr lang="en-US" sz="5400" b="1" dirty="0" smtClean="0">
              <a:latin typeface="Cambria" pitchFamily="18" charset="0"/>
              <a:ea typeface="Cambria" pitchFamily="18" charset="0"/>
            </a:endParaRPr>
          </a:p>
          <a:p>
            <a:pPr marL="82296" indent="0" algn="ctr">
              <a:buNone/>
            </a:pPr>
            <a:endParaRPr lang="en-US" sz="5400" b="1" dirty="0">
              <a:latin typeface="Cambria" pitchFamily="18" charset="0"/>
              <a:ea typeface="Cambria" pitchFamily="18" charset="0"/>
            </a:endParaRPr>
          </a:p>
          <a:p>
            <a:pPr marL="82296" indent="0" algn="ctr">
              <a:buNone/>
            </a:pPr>
            <a:endParaRPr lang="en-US" sz="5400" b="1" dirty="0" smtClean="0">
              <a:latin typeface="Cambria" pitchFamily="18" charset="0"/>
              <a:ea typeface="Cambria" pitchFamily="18" charset="0"/>
            </a:endParaRPr>
          </a:p>
          <a:p>
            <a:pPr marL="82296" indent="0" algn="ctr">
              <a:buNone/>
            </a:pPr>
            <a:r>
              <a:rPr lang="en-US" sz="5400" b="1" dirty="0" smtClean="0">
                <a:latin typeface="Cambria" pitchFamily="18" charset="0"/>
                <a:ea typeface="Cambria" pitchFamily="18" charset="0"/>
              </a:rPr>
              <a:t>Thank You</a:t>
            </a:r>
          </a:p>
          <a:p>
            <a:pPr marL="82296" indent="0" algn="ctr">
              <a:buNone/>
            </a:pPr>
            <a:endParaRPr lang="en-US" sz="5400" b="1" dirty="0">
              <a:latin typeface="Cambria" pitchFamily="18" charset="0"/>
              <a:ea typeface="Cambria" pitchFamily="18" charset="0"/>
            </a:endParaRPr>
          </a:p>
          <a:p>
            <a:pPr marL="82296" indent="0" algn="ctr">
              <a:buNone/>
            </a:pPr>
            <a:r>
              <a:rPr lang="en-US" b="1" dirty="0" smtClean="0">
                <a:latin typeface="Cambria" pitchFamily="18" charset="0"/>
                <a:ea typeface="Cambria" pitchFamily="18" charset="0"/>
              </a:rPr>
              <a:t>                                           </a:t>
            </a:r>
          </a:p>
          <a:p>
            <a:pPr marL="82296" indent="0" algn="ctr">
              <a:buNone/>
            </a:pPr>
            <a:r>
              <a:rPr lang="en-US" b="1" dirty="0">
                <a:latin typeface="Cambria" pitchFamily="18" charset="0"/>
                <a:ea typeface="Cambria" pitchFamily="18" charset="0"/>
              </a:rPr>
              <a:t> </a:t>
            </a:r>
            <a:r>
              <a:rPr lang="en-US" b="1" dirty="0" smtClean="0">
                <a:latin typeface="Cambria" pitchFamily="18" charset="0"/>
                <a:ea typeface="Cambria" pitchFamily="18" charset="0"/>
              </a:rPr>
              <a:t>                                                ANUJA N.</a:t>
            </a:r>
            <a:endParaRPr lang="en-US" b="1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1486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97</TotalTime>
  <Words>263</Words>
  <Application>Microsoft Office PowerPoint</Application>
  <PresentationFormat>On-screen Show (4:3)</PresentationFormat>
  <Paragraphs>111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Solstice</vt:lpstr>
      <vt:lpstr>PowerPoint Presentation</vt:lpstr>
      <vt:lpstr>Agenda</vt:lpstr>
      <vt:lpstr>What is a URL Shortener?</vt:lpstr>
      <vt:lpstr>Why Serverless?</vt:lpstr>
      <vt:lpstr>Architecture Overview</vt:lpstr>
      <vt:lpstr>Implementation Steps</vt:lpstr>
      <vt:lpstr>.</vt:lpstr>
      <vt:lpstr>.</vt:lpstr>
      <vt:lpstr>.</vt:lpstr>
      <vt:lpstr>.</vt:lpstr>
      <vt:lpstr>.</vt:lpstr>
      <vt:lpstr>.</vt:lpstr>
      <vt:lpstr>.</vt:lpstr>
      <vt:lpstr>Advantages</vt:lpstr>
      <vt:lpstr>Challenges</vt:lpstr>
      <vt:lpstr>Conclusion</vt:lpstr>
      <vt:lpstr>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Vaijainath</dc:creator>
  <cp:lastModifiedBy>Vaijainath</cp:lastModifiedBy>
  <cp:revision>57</cp:revision>
  <dcterms:created xsi:type="dcterms:W3CDTF">2025-10-03T07:00:10Z</dcterms:created>
  <dcterms:modified xsi:type="dcterms:W3CDTF">2025-10-03T08:37:31Z</dcterms:modified>
</cp:coreProperties>
</file>